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226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560</c:v>
                </c:pt>
                <c:pt idx="1">
                  <c:v>440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42-4F17-9798-5A0804EAFAB2}"/>
            </c:ext>
          </c:extLst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b"/>
      <c:layout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Emergency</c:v>
                </c:pt>
                <c:pt idx="1">
                  <c:v>Elective</c:v>
                </c:pt>
                <c:pt idx="2">
                  <c:v>Referral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28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EF-45A9-A794-19084DE78A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invertIfNegative val="1"/>
          <c:cat>
            <c:strRef>
              <c:f>Sheet1!$A$2:$A$10</c:f>
              <c:strCache>
                <c:ptCount val="9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8</c:v>
                </c:pt>
                <c:pt idx="2">
                  <c:v>25</c:v>
                </c:pt>
                <c:pt idx="3">
                  <c:v>70</c:v>
                </c:pt>
                <c:pt idx="4">
                  <c:v>115</c:v>
                </c:pt>
                <c:pt idx="5">
                  <c:v>140</c:v>
                </c:pt>
                <c:pt idx="6">
                  <c:v>80</c:v>
                </c:pt>
                <c:pt idx="7">
                  <c:v>25</c:v>
                </c:pt>
                <c:pt idx="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A-4D89-BF4D-3171BDC007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invertIfNegative val="1"/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17</c:v>
                </c:pt>
                <c:pt idx="9">
                  <c:v>19</c:v>
                </c:pt>
                <c:pt idx="10">
                  <c:v>21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55</c:v>
                </c:pt>
                <c:pt idx="1">
                  <c:v>160</c:v>
                </c:pt>
                <c:pt idx="2">
                  <c:v>120</c:v>
                </c:pt>
                <c:pt idx="3">
                  <c:v>75</c:v>
                </c:pt>
                <c:pt idx="4">
                  <c:v>50</c:v>
                </c:pt>
                <c:pt idx="5">
                  <c:v>35</c:v>
                </c:pt>
                <c:pt idx="6">
                  <c:v>22</c:v>
                </c:pt>
                <c:pt idx="7">
                  <c:v>15</c:v>
                </c:pt>
                <c:pt idx="8">
                  <c:v>9</c:v>
                </c:pt>
                <c:pt idx="9">
                  <c:v>5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B7-4BDF-9B54-BF1FBD3BBB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invertIfNegative val="1"/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20k</c:v>
                </c:pt>
                <c:pt idx="2">
                  <c:v>40k</c:v>
                </c:pt>
                <c:pt idx="3">
                  <c:v>60k</c:v>
                </c:pt>
                <c:pt idx="4">
                  <c:v>80k</c:v>
                </c:pt>
                <c:pt idx="5">
                  <c:v>100k</c:v>
                </c:pt>
                <c:pt idx="6">
                  <c:v>120k</c:v>
                </c:pt>
                <c:pt idx="7">
                  <c:v>140k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135</c:v>
                </c:pt>
                <c:pt idx="1">
                  <c:v>105</c:v>
                </c:pt>
                <c:pt idx="2">
                  <c:v>82</c:v>
                </c:pt>
                <c:pt idx="3">
                  <c:v>62</c:v>
                </c:pt>
                <c:pt idx="4">
                  <c:v>45</c:v>
                </c:pt>
                <c:pt idx="5">
                  <c:v>30</c:v>
                </c:pt>
                <c:pt idx="6">
                  <c:v>18</c:v>
                </c:pt>
                <c:pt idx="7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AC-4480-B50E-2507516A5B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(%)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0–18</c:v>
                </c:pt>
                <c:pt idx="1">
                  <c:v>19–35</c:v>
                </c:pt>
                <c:pt idx="2">
                  <c:v>36–50</c:v>
                </c:pt>
                <c:pt idx="3">
                  <c:v>51–65</c:v>
                </c:pt>
                <c:pt idx="4">
                  <c:v>65+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34</c:v>
                </c:pt>
                <c:pt idx="2">
                  <c:v>28</c:v>
                </c:pt>
                <c:pt idx="3">
                  <c:v>20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1E-4EFA-8A00-E6BDF4DA41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Relationship Id="rId9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3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"/>
            <a:ext cx="768096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143969"/>
                </a:solidFill>
                <a:latin typeface="Arial"/>
              </a:rPr>
              <a:t>DATA PREPARATION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7955279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143969"/>
                </a:solidFill>
                <a:latin typeface="Arial"/>
              </a:rPr>
              <a:t>STATISTICAL ANALYSIS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32104"/>
            <a:ext cx="8229600" cy="4297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143969"/>
                </a:solidFill>
                <a:latin typeface="Arial"/>
              </a:rPr>
              <a:t>HOSPITAL PATIENT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777240"/>
            <a:ext cx="594360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dirty="0">
                <a:solidFill>
                  <a:srgbClr val="143969"/>
                </a:solidFill>
                <a:latin typeface="Arial"/>
              </a:rPr>
              <a:t>
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89888" y="1286256"/>
            <a:ext cx="6364224" cy="566928"/>
          </a:xfrm>
          <a:prstGeom prst="roundRect">
            <a:avLst/>
          </a:prstGeom>
          <a:solidFill>
            <a:srgbClr val="EBF7FA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17904" y="1426464"/>
            <a:ext cx="502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1">
                <a:solidFill>
                  <a:srgbClr val="143969"/>
                </a:solidFill>
                <a:latin typeface="Arial"/>
              </a:rPr>
              <a:t>Aim: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1417320"/>
            <a:ext cx="548640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0">
                <a:solidFill>
                  <a:srgbClr val="141414"/>
                </a:solidFill>
                <a:latin typeface="Arial"/>
              </a:rPr>
              <a:t>To prepare hospital patient data for analysis and apply statistical techniques to
extract meaningful insights for better healthcare decision-making.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1975104"/>
            <a:ext cx="9144000" cy="0"/>
          </a:xfrm>
          <a:prstGeom prst="line">
            <a:avLst/>
          </a:prstGeom>
          <a:ln>
            <a:solidFill>
              <a:srgbClr val="143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64592" y="2084831"/>
            <a:ext cx="384048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64592" y="2084831"/>
            <a:ext cx="3840480" cy="393192"/>
          </a:xfrm>
          <a:prstGeom prst="roundRect">
            <a:avLst/>
          </a:prstGeom>
          <a:solidFill>
            <a:srgbClr val="007D82"/>
          </a:solidFill>
          <a:ln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" y="211683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121408"/>
            <a:ext cx="32004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DATASET OVERVIEW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33087" y="2084831"/>
            <a:ext cx="48463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33087" y="2084831"/>
            <a:ext cx="4846320" cy="393192"/>
          </a:xfrm>
          <a:prstGeom prst="roundRect">
            <a:avLst/>
          </a:prstGeom>
          <a:solidFill>
            <a:srgbClr val="143969"/>
          </a:solidFill>
          <a:ln>
            <a:solidFill>
              <a:srgbClr val="143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0" y="211683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121408"/>
            <a:ext cx="420624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DATA PREPARATION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" y="5010912"/>
            <a:ext cx="4297680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64592" y="5010912"/>
            <a:ext cx="4297680" cy="393192"/>
          </a:xfrm>
          <a:prstGeom prst="roundRect">
            <a:avLst/>
          </a:prstGeom>
          <a:solidFill>
            <a:srgbClr val="0A8250"/>
          </a:solidFill>
          <a:ln>
            <a:solidFill>
              <a:srgbClr val="0A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" y="504291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047488"/>
            <a:ext cx="36576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DESCRIPTIVE STATISTICS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5010912"/>
            <a:ext cx="4361688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617720" y="5010912"/>
            <a:ext cx="4361688" cy="393192"/>
          </a:xfrm>
          <a:prstGeom prst="roundRect">
            <a:avLst/>
          </a:prstGeom>
          <a:solidFill>
            <a:srgbClr val="1969B9"/>
          </a:solidFill>
          <a:ln>
            <a:solidFill>
              <a:srgbClr val="196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90872" y="5042916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8072" y="5047488"/>
            <a:ext cx="3721607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DATA DISTRIBUTION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2" y="8156448"/>
            <a:ext cx="42976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64592" y="8156448"/>
            <a:ext cx="4297680" cy="393192"/>
          </a:xfrm>
          <a:prstGeom prst="roundRect">
            <a:avLst/>
          </a:prstGeom>
          <a:solidFill>
            <a:srgbClr val="693791"/>
          </a:solidFill>
          <a:ln>
            <a:solidFill>
              <a:srgbClr val="69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7744" y="81884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8193023"/>
            <a:ext cx="36576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CORRELATION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20" y="8156448"/>
            <a:ext cx="436168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3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617720" y="8156448"/>
            <a:ext cx="4361688" cy="393192"/>
          </a:xfrm>
          <a:prstGeom prst="roundRect">
            <a:avLst/>
          </a:prstGeom>
          <a:solidFill>
            <a:srgbClr val="143969"/>
          </a:solidFill>
          <a:ln>
            <a:solidFill>
              <a:srgbClr val="143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90872" y="818845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8072" y="8193023"/>
            <a:ext cx="3721607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KEY FINDINGS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4592" y="11173968"/>
            <a:ext cx="8814816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64592" y="11173968"/>
            <a:ext cx="8814816" cy="393192"/>
          </a:xfrm>
          <a:prstGeom prst="roundRect">
            <a:avLst/>
          </a:prstGeom>
          <a:solidFill>
            <a:srgbClr val="007D82"/>
          </a:solidFill>
          <a:ln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37744" y="11205972"/>
            <a:ext cx="41148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" y="11210544"/>
            <a:ext cx="8174736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2560320"/>
            <a:ext cx="32461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Source: Hospital Information 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2798064"/>
            <a:ext cx="32461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141414"/>
                </a:solidFill>
                <a:latin typeface="Arial"/>
              </a:rPr>
              <a:t>Records: 1,000 patient entries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3026664"/>
            <a:ext cx="914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41414"/>
                </a:solidFill>
                <a:latin typeface="Arial"/>
              </a:rPr>
              <a:t>Attributes: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3227832"/>
            <a:ext cx="251460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Patient ID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Age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Gender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Department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Admission Type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Diagnosis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Length of Stay (days)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Billing Amount (₹)</a:t>
            </a:r>
          </a:p>
          <a:p>
            <a:pPr>
              <a:spcAft>
                <a:spcPts val="100"/>
              </a:spcAft>
              <a:defRPr sz="840">
                <a:solidFill>
                  <a:srgbClr val="141414"/>
                </a:solidFill>
                <a:latin typeface="Arial"/>
              </a:defRPr>
            </a:pPr>
            <a:r>
              <a:t>✓  Outcome (Discharged / Referred / Deceased)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999232" y="2907792"/>
            <a:ext cx="777240" cy="228600"/>
          </a:xfrm>
          <a:prstGeom prst="roundRect">
            <a:avLst/>
          </a:prstGeom>
          <a:solidFill>
            <a:srgbClr val="EBF7FA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999232" y="3090672"/>
            <a:ext cx="777240" cy="658368"/>
          </a:xfrm>
          <a:prstGeom prst="rect">
            <a:avLst/>
          </a:prstGeom>
          <a:solidFill>
            <a:srgbClr val="EBF7FA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999232" y="3657600"/>
            <a:ext cx="777240" cy="228600"/>
          </a:xfrm>
          <a:prstGeom prst="roundRect">
            <a:avLst/>
          </a:prstGeom>
          <a:solidFill>
            <a:srgbClr val="EBF7FA"/>
          </a:solidFill>
          <a:ln w="12700">
            <a:solidFill>
              <a:srgbClr val="0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54680" y="3694176"/>
            <a:ext cx="475488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✚</a:t>
            </a:r>
          </a:p>
        </p:txBody>
      </p:sp>
      <p:sp>
        <p:nvSpPr>
          <p:cNvPr id="52" name="Oval 51"/>
          <p:cNvSpPr/>
          <p:nvPr/>
        </p:nvSpPr>
        <p:spPr>
          <a:xfrm>
            <a:off x="3310128" y="3749039"/>
            <a:ext cx="411480" cy="411480"/>
          </a:xfrm>
          <a:prstGeom prst="ellipse">
            <a:avLst/>
          </a:prstGeom>
          <a:solidFill>
            <a:srgbClr val="007D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01568" y="3776472"/>
            <a:ext cx="22860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2542032"/>
            <a:ext cx="21031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43969"/>
                </a:solidFill>
                <a:latin typeface="Arial"/>
              </a:rPr>
              <a:t>Steps Performed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2816352"/>
            <a:ext cx="2148840" cy="1737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Data Collection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Handling Missing Values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Removing Duplicates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Encoding Categorical Data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Data Type Conversion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Outlier Detection &amp; Treatment</a:t>
            </a:r>
          </a:p>
          <a:p>
            <a:pPr>
              <a:spcAft>
                <a:spcPts val="100"/>
              </a:spcAft>
              <a:defRPr sz="900">
                <a:solidFill>
                  <a:srgbClr val="141414"/>
                </a:solidFill>
                <a:latin typeface="Arial"/>
              </a:defRPr>
            </a:pPr>
            <a:r>
              <a:t>✓  Data Normalization (where needed)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5392" y="2542032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43969"/>
                </a:solidFill>
                <a:latin typeface="Arial"/>
              </a:rPr>
              <a:t>Data Cleaning Summary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65392" y="2816352"/>
            <a:ext cx="1810512" cy="384048"/>
          </a:xfrm>
          <a:prstGeom prst="rect">
            <a:avLst/>
          </a:prstGeom>
          <a:solidFill>
            <a:srgbClr val="EBF7FA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375904" y="2816352"/>
            <a:ext cx="512064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56831" y="2880360"/>
            <a:ext cx="162763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rial"/>
              </a:rPr>
              <a:t>Missing Values Handled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7" y="2880360"/>
            <a:ext cx="42062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125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65392" y="3200400"/>
            <a:ext cx="1810512" cy="384048"/>
          </a:xfrm>
          <a:prstGeom prst="rect">
            <a:avLst/>
          </a:prstGeom>
          <a:solidFill>
            <a:srgbClr val="EBF7FA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375904" y="3200400"/>
            <a:ext cx="512064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56831" y="3264408"/>
            <a:ext cx="162763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rial"/>
              </a:rPr>
              <a:t>Duplicate Records Removed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0767" y="3264408"/>
            <a:ext cx="42062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65392" y="3584448"/>
            <a:ext cx="1810512" cy="384048"/>
          </a:xfrm>
          <a:prstGeom prst="rect">
            <a:avLst/>
          </a:prstGeom>
          <a:solidFill>
            <a:srgbClr val="EBF7FA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375904" y="3584448"/>
            <a:ext cx="512064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656831" y="3648456"/>
            <a:ext cx="162763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rial"/>
              </a:rPr>
              <a:t>Outliers Treated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30767" y="3648456"/>
            <a:ext cx="42062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32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65392" y="3968496"/>
            <a:ext cx="1810512" cy="384048"/>
          </a:xfrm>
          <a:prstGeom prst="rect">
            <a:avLst/>
          </a:prstGeom>
          <a:solidFill>
            <a:srgbClr val="EBF7FA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8375904" y="3968496"/>
            <a:ext cx="512064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656831" y="4032504"/>
            <a:ext cx="162763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1414"/>
                </a:solidFill>
                <a:latin typeface="Arial"/>
              </a:rPr>
              <a:t>Final Clean Records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30767" y="4032504"/>
            <a:ext cx="420624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0">
                <a:solidFill>
                  <a:srgbClr val="141414"/>
                </a:solidFill>
                <a:latin typeface="Arial"/>
              </a:rPr>
              <a:t>1,000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5504688"/>
            <a:ext cx="932688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46888" y="5541264"/>
            <a:ext cx="8961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Parameter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61288" y="5504688"/>
            <a:ext cx="50292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79576" y="5541264"/>
            <a:ext cx="466344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Mean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64208" y="5504688"/>
            <a:ext cx="54864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682496" y="5541264"/>
            <a:ext cx="512063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Median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12848" y="5504688"/>
            <a:ext cx="658368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231136" y="5541264"/>
            <a:ext cx="62179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Variance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71215" y="5504688"/>
            <a:ext cx="786384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889503" y="5541264"/>
            <a:ext cx="749808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Std. Deviation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599" y="5504688"/>
            <a:ext cx="438912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675887" y="5541264"/>
            <a:ext cx="402336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>
                <a:solidFill>
                  <a:srgbClr val="141414"/>
                </a:solidFill>
                <a:latin typeface="Arial"/>
              </a:rPr>
              <a:t>Min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96511" y="5504688"/>
            <a:ext cx="347471" cy="292607"/>
          </a:xfrm>
          <a:prstGeom prst="rect">
            <a:avLst/>
          </a:prstGeom>
          <a:solidFill>
            <a:srgbClr val="F8F9FA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114800" y="5541264"/>
            <a:ext cx="310894" cy="1708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1" dirty="0">
                <a:solidFill>
                  <a:srgbClr val="141414"/>
                </a:solidFill>
                <a:latin typeface="Arial"/>
              </a:rPr>
              <a:t>Max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8600" y="5833872"/>
            <a:ext cx="9326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46888" y="5879592"/>
            <a:ext cx="89611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Age (Years)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61288" y="5833872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179576" y="5879592"/>
            <a:ext cx="46634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44.7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664208" y="5833872"/>
            <a:ext cx="548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682496" y="5879592"/>
            <a:ext cx="51206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45.0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12848" y="5833872"/>
            <a:ext cx="6583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231136" y="5879592"/>
            <a:ext cx="62179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214.6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71215" y="5833872"/>
            <a:ext cx="78638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889503" y="5879592"/>
            <a:ext cx="7498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14.6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599" y="5833872"/>
            <a:ext cx="438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675887" y="5879592"/>
            <a:ext cx="4023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096511" y="5833872"/>
            <a:ext cx="329182" cy="401531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114799" y="5879592"/>
            <a:ext cx="4023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 dirty="0">
                <a:solidFill>
                  <a:srgbClr val="141414"/>
                </a:solidFill>
                <a:latin typeface="Arial"/>
              </a:rPr>
              <a:t>90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8600" y="6245352"/>
            <a:ext cx="9326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46888" y="6291072"/>
            <a:ext cx="89611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Length of Stay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61288" y="6245352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179576" y="6291072"/>
            <a:ext cx="46634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4.6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664208" y="6245352"/>
            <a:ext cx="548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682496" y="6291072"/>
            <a:ext cx="51206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4.0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12848" y="6245352"/>
            <a:ext cx="6583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231136" y="6291072"/>
            <a:ext cx="62179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6.8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871215" y="6245352"/>
            <a:ext cx="78638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889503" y="6291072"/>
            <a:ext cx="7498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2.6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57599" y="6245352"/>
            <a:ext cx="438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675887" y="6291072"/>
            <a:ext cx="4023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096511" y="6245352"/>
            <a:ext cx="310896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114799" y="6381707"/>
            <a:ext cx="347473" cy="16619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20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8600" y="6656832"/>
            <a:ext cx="93268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46888" y="6702552"/>
            <a:ext cx="89611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Billing Amount
(₹)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161288" y="6656832"/>
            <a:ext cx="502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179576" y="6702552"/>
            <a:ext cx="466344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37,842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664208" y="6656832"/>
            <a:ext cx="548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682496" y="6702552"/>
            <a:ext cx="512063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28,500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12848" y="6656832"/>
            <a:ext cx="6583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231136" y="6702552"/>
            <a:ext cx="621792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5.62×10⁸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871215" y="6656832"/>
            <a:ext cx="78638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889503" y="6702552"/>
            <a:ext cx="749808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23,713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599" y="6656832"/>
            <a:ext cx="438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75887" y="6702552"/>
            <a:ext cx="4023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1,200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096510" y="6656832"/>
            <a:ext cx="329183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4114799" y="6702552"/>
            <a:ext cx="402336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720" b="0">
                <a:solidFill>
                  <a:srgbClr val="141414"/>
                </a:solidFill>
                <a:latin typeface="Arial"/>
              </a:rPr>
              <a:t>1,50,000</a:t>
            </a:r>
          </a:p>
        </p:txBody>
      </p:sp>
      <p:graphicFrame>
        <p:nvGraphicFramePr>
          <p:cNvPr id="129" name="Chart 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538235"/>
              </p:ext>
            </p:extLst>
          </p:nvPr>
        </p:nvGraphicFramePr>
        <p:xfrm>
          <a:off x="354837" y="7042912"/>
          <a:ext cx="160020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0" name="TextBox 129"/>
          <p:cNvSpPr txBox="1"/>
          <p:nvPr/>
        </p:nvSpPr>
        <p:spPr>
          <a:xfrm>
            <a:off x="1330452" y="7351776"/>
            <a:ext cx="16459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 dirty="0">
                <a:solidFill>
                  <a:srgbClr val="143969"/>
                </a:solidFill>
                <a:latin typeface="Arial"/>
              </a:rPr>
              <a:t>Admission Type</a:t>
            </a:r>
          </a:p>
        </p:txBody>
      </p:sp>
      <p:graphicFrame>
        <p:nvGraphicFramePr>
          <p:cNvPr id="131" name="Chart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04637"/>
              </p:ext>
            </p:extLst>
          </p:nvPr>
        </p:nvGraphicFramePr>
        <p:xfrm>
          <a:off x="1912110" y="6998208"/>
          <a:ext cx="2148840" cy="896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2" name="TextBox 131"/>
          <p:cNvSpPr txBox="1"/>
          <p:nvPr/>
        </p:nvSpPr>
        <p:spPr>
          <a:xfrm>
            <a:off x="4828032" y="5431536"/>
            <a:ext cx="187451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80" b="1">
                <a:solidFill>
                  <a:srgbClr val="143969"/>
                </a:solidFill>
                <a:latin typeface="Arial"/>
              </a:rPr>
              <a:t>Age Distribution</a:t>
            </a:r>
          </a:p>
        </p:txBody>
      </p:sp>
      <p:graphicFrame>
        <p:nvGraphicFramePr>
          <p:cNvPr id="133" name="Chart 132"/>
          <p:cNvGraphicFramePr>
            <a:graphicFrameLocks noGrp="1"/>
          </p:cNvGraphicFramePr>
          <p:nvPr/>
        </p:nvGraphicFramePr>
        <p:xfrm>
          <a:off x="4828032" y="5650992"/>
          <a:ext cx="1874519" cy="969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4" name="TextBox 133"/>
          <p:cNvSpPr txBox="1"/>
          <p:nvPr/>
        </p:nvSpPr>
        <p:spPr>
          <a:xfrm>
            <a:off x="6912864" y="5431536"/>
            <a:ext cx="187451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80" b="1">
                <a:solidFill>
                  <a:srgbClr val="143969"/>
                </a:solidFill>
                <a:latin typeface="Arial"/>
              </a:rPr>
              <a:t>Length of Stay Distribution</a:t>
            </a:r>
          </a:p>
        </p:txBody>
      </p:sp>
      <p:graphicFrame>
        <p:nvGraphicFramePr>
          <p:cNvPr id="135" name="Chart 134"/>
          <p:cNvGraphicFramePr>
            <a:graphicFrameLocks noGrp="1"/>
          </p:cNvGraphicFramePr>
          <p:nvPr/>
        </p:nvGraphicFramePr>
        <p:xfrm>
          <a:off x="6912864" y="5650992"/>
          <a:ext cx="1874519" cy="969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6" name="TextBox 135"/>
          <p:cNvSpPr txBox="1"/>
          <p:nvPr/>
        </p:nvSpPr>
        <p:spPr>
          <a:xfrm>
            <a:off x="4828032" y="6611112"/>
            <a:ext cx="187451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80" b="1">
                <a:solidFill>
                  <a:srgbClr val="143969"/>
                </a:solidFill>
                <a:latin typeface="Arial"/>
              </a:rPr>
              <a:t>Billing Amount Distribution</a:t>
            </a:r>
          </a:p>
        </p:txBody>
      </p:sp>
      <p:graphicFrame>
        <p:nvGraphicFramePr>
          <p:cNvPr id="137" name="Chart 136"/>
          <p:cNvGraphicFramePr>
            <a:graphicFrameLocks noGrp="1"/>
          </p:cNvGraphicFramePr>
          <p:nvPr/>
        </p:nvGraphicFramePr>
        <p:xfrm>
          <a:off x="4828032" y="6830568"/>
          <a:ext cx="1874519" cy="969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6912864" y="6611112"/>
            <a:ext cx="187451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80" b="1">
                <a:solidFill>
                  <a:srgbClr val="143969"/>
                </a:solidFill>
                <a:latin typeface="Arial"/>
              </a:rPr>
              <a:t>Age Group Distribution</a:t>
            </a:r>
          </a:p>
        </p:txBody>
      </p:sp>
      <p:graphicFrame>
        <p:nvGraphicFramePr>
          <p:cNvPr id="139" name="Chart 138"/>
          <p:cNvGraphicFramePr>
            <a:graphicFrameLocks noGrp="1"/>
          </p:cNvGraphicFramePr>
          <p:nvPr/>
        </p:nvGraphicFramePr>
        <p:xfrm>
          <a:off x="6912864" y="6830568"/>
          <a:ext cx="1874519" cy="969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301752" y="8567928"/>
            <a:ext cx="36118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43969"/>
                </a:solidFill>
                <a:latin typeface="Arial"/>
              </a:rPr>
              <a:t>Correlation Matrix (Pearson r)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41248" y="8737092"/>
            <a:ext cx="868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0" dirty="0">
                <a:solidFill>
                  <a:srgbClr val="141414"/>
                </a:solidFill>
                <a:latin typeface="Arial"/>
              </a:rPr>
              <a:t>Age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709928" y="8718804"/>
            <a:ext cx="868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0" dirty="0">
                <a:solidFill>
                  <a:srgbClr val="141414"/>
                </a:solidFill>
                <a:latin typeface="Arial"/>
              </a:rPr>
              <a:t>Length of Stay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578608" y="8700517"/>
            <a:ext cx="8686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750" b="0" dirty="0">
                <a:solidFill>
                  <a:srgbClr val="141414"/>
                </a:solidFill>
                <a:latin typeface="Arial"/>
              </a:rPr>
              <a:t>Billing Amount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4320" y="8942832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750" b="0">
                <a:solidFill>
                  <a:srgbClr val="141414"/>
                </a:solidFill>
                <a:latin typeface="Arial"/>
              </a:rPr>
              <a:t>Age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41248" y="8942832"/>
            <a:ext cx="868680" cy="384048"/>
          </a:xfrm>
          <a:prstGeom prst="rect">
            <a:avLst/>
          </a:prstGeom>
          <a:solidFill>
            <a:srgbClr val="B4323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841248" y="9015984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709928" y="8942832"/>
            <a:ext cx="868680" cy="384048"/>
          </a:xfrm>
          <a:prstGeom prst="rect">
            <a:avLst/>
          </a:prstGeom>
          <a:solidFill>
            <a:srgbClr val="F5B2B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709928" y="9015984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0.32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578608" y="8942832"/>
            <a:ext cx="868680" cy="384048"/>
          </a:xfrm>
          <a:prstGeom prst="rect">
            <a:avLst/>
          </a:prstGeom>
          <a:solidFill>
            <a:srgbClr val="F5A9B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578608" y="9015984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0.41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74320" y="9326880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750" b="0">
                <a:solidFill>
                  <a:srgbClr val="141414"/>
                </a:solidFill>
                <a:latin typeface="Arial"/>
              </a:rPr>
              <a:t>Length of Stay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41248" y="9326880"/>
            <a:ext cx="868680" cy="384048"/>
          </a:xfrm>
          <a:prstGeom prst="rect">
            <a:avLst/>
          </a:prstGeom>
          <a:solidFill>
            <a:srgbClr val="F5B2B9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41248" y="9400032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0.32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709928" y="9326880"/>
            <a:ext cx="868680" cy="384048"/>
          </a:xfrm>
          <a:prstGeom prst="rect">
            <a:avLst/>
          </a:prstGeom>
          <a:solidFill>
            <a:srgbClr val="B4323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709928" y="9400032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578608" y="9326880"/>
            <a:ext cx="868680" cy="384048"/>
          </a:xfrm>
          <a:prstGeom prst="rect">
            <a:avLst/>
          </a:prstGeom>
          <a:solidFill>
            <a:srgbClr val="F59AA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2578608" y="9400032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0.56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74320" y="9710928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750" b="0">
                <a:solidFill>
                  <a:srgbClr val="141414"/>
                </a:solidFill>
                <a:latin typeface="Arial"/>
              </a:rPr>
              <a:t>Billing Amount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41248" y="9710928"/>
            <a:ext cx="868680" cy="384048"/>
          </a:xfrm>
          <a:prstGeom prst="rect">
            <a:avLst/>
          </a:prstGeom>
          <a:solidFill>
            <a:srgbClr val="F5A9B2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41248" y="9784080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0.41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709928" y="9710928"/>
            <a:ext cx="868680" cy="384048"/>
          </a:xfrm>
          <a:prstGeom prst="rect">
            <a:avLst/>
          </a:prstGeom>
          <a:solidFill>
            <a:srgbClr val="F59AA6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709928" y="9784080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141414"/>
                </a:solidFill>
                <a:latin typeface="Arial"/>
              </a:rPr>
              <a:t>0.56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578608" y="9710928"/>
            <a:ext cx="868680" cy="384048"/>
          </a:xfrm>
          <a:prstGeom prst="rect">
            <a:avLst/>
          </a:prstGeom>
          <a:solidFill>
            <a:srgbClr val="B43237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578608" y="9784080"/>
            <a:ext cx="8686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703320" y="8942832"/>
            <a:ext cx="109728" cy="182880"/>
          </a:xfrm>
          <a:prstGeom prst="rect">
            <a:avLst/>
          </a:prstGeom>
          <a:solidFill>
            <a:srgbClr val="D2505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3703320" y="9125711"/>
            <a:ext cx="109728" cy="182880"/>
          </a:xfrm>
          <a:prstGeom prst="rect">
            <a:avLst/>
          </a:prstGeom>
          <a:solidFill>
            <a:srgbClr val="B96464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3703320" y="9308592"/>
            <a:ext cx="109728" cy="182880"/>
          </a:xfrm>
          <a:prstGeom prst="rect">
            <a:avLst/>
          </a:prstGeom>
          <a:solidFill>
            <a:srgbClr val="A07878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3703320" y="9491472"/>
            <a:ext cx="109728" cy="182880"/>
          </a:xfrm>
          <a:prstGeom prst="rect">
            <a:avLst/>
          </a:prstGeom>
          <a:solidFill>
            <a:srgbClr val="878C8C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3703320" y="9674352"/>
            <a:ext cx="109728" cy="182880"/>
          </a:xfrm>
          <a:prstGeom prst="rect">
            <a:avLst/>
          </a:prstGeom>
          <a:solidFill>
            <a:srgbClr val="6EA0A0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3703320" y="9857232"/>
            <a:ext cx="109728" cy="182880"/>
          </a:xfrm>
          <a:prstGeom prst="rect">
            <a:avLst/>
          </a:prstGeom>
          <a:solidFill>
            <a:srgbClr val="55B4B4"/>
          </a:solidFill>
          <a:ln w="25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301752" y="10241280"/>
            <a:ext cx="361188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43969"/>
                </a:solidFill>
                <a:latin typeface="Arial"/>
              </a:rPr>
              <a:t>Key Relationships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01752" y="10497312"/>
            <a:ext cx="3794760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00"/>
              </a:spcAft>
              <a:defRPr sz="750">
                <a:solidFill>
                  <a:srgbClr val="141414"/>
                </a:solidFill>
                <a:latin typeface="Arial"/>
              </a:defRPr>
            </a:pPr>
            <a:r>
              <a:t>✓  Age has a moderate positive correlation with Billing Amount (r = 0.41).</a:t>
            </a:r>
          </a:p>
          <a:p>
            <a:pPr>
              <a:spcAft>
                <a:spcPts val="100"/>
              </a:spcAft>
              <a:defRPr sz="750">
                <a:solidFill>
                  <a:srgbClr val="141414"/>
                </a:solidFill>
                <a:latin typeface="Arial"/>
              </a:defRPr>
            </a:pPr>
            <a:r>
              <a:t>✓  Length of Stay is moderately correlated with Billing Amount (r = 0.56).</a:t>
            </a:r>
          </a:p>
          <a:p>
            <a:pPr>
              <a:spcAft>
                <a:spcPts val="100"/>
              </a:spcAft>
              <a:defRPr sz="750">
                <a:solidFill>
                  <a:srgbClr val="141414"/>
                </a:solidFill>
                <a:latin typeface="Arial"/>
              </a:defRPr>
            </a:pPr>
            <a:r>
              <a:t>✓  Age and Length of Stay show a weak positive correlation (r = 0.32).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846320" y="8698994"/>
            <a:ext cx="3840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0" dirty="0">
                <a:solidFill>
                  <a:srgbClr val="143969"/>
                </a:solidFill>
                <a:latin typeface="Arial"/>
              </a:rPr>
              <a:t>👥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294376" y="8756904"/>
            <a:ext cx="3310128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19" b="0">
                <a:solidFill>
                  <a:srgbClr val="141414"/>
                </a:solidFill>
                <a:latin typeface="Arial"/>
              </a:rPr>
              <a:t>Most patients belong to the age group 19–50 years.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846320" y="9107424"/>
            <a:ext cx="3840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0">
                <a:solidFill>
                  <a:srgbClr val="143969"/>
                </a:solidFill>
                <a:latin typeface="Arial"/>
              </a:rPr>
              <a:t>🛏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285232" y="9098280"/>
            <a:ext cx="3310128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19" b="0">
                <a:solidFill>
                  <a:srgbClr val="141414"/>
                </a:solidFill>
                <a:latin typeface="Arial"/>
              </a:rPr>
              <a:t>Average length of stay is 4.6 days.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846320" y="9619488"/>
            <a:ext cx="384048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0">
                <a:solidFill>
                  <a:srgbClr val="143969"/>
                </a:solidFill>
                <a:latin typeface="Arial"/>
              </a:rPr>
              <a:t>₹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285232" y="9610344"/>
            <a:ext cx="3310128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19" b="0">
                <a:solidFill>
                  <a:srgbClr val="141414"/>
                </a:solidFill>
                <a:latin typeface="Arial"/>
              </a:rPr>
              <a:t>Billing amount shows high variation with some high outliers.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846320" y="10131552"/>
            <a:ext cx="384048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0" smtClean="0">
                <a:solidFill>
                  <a:srgbClr val="143969"/>
                </a:solidFill>
                <a:latin typeface="Arial"/>
              </a:rPr>
              <a:t>▮</a:t>
            </a:r>
            <a:endParaRPr sz="1800" b="0">
              <a:solidFill>
                <a:srgbClr val="143969"/>
              </a:solidFill>
              <a:latin typeface="Arial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5285232" y="10122408"/>
            <a:ext cx="3310128" cy="429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19" b="0">
                <a:solidFill>
                  <a:srgbClr val="141414"/>
                </a:solidFill>
                <a:latin typeface="Arial"/>
              </a:rPr>
              <a:t>Moderate positive relationships exist between key variables, helping in resource planning and cost management.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92608" y="11676888"/>
            <a:ext cx="662940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19" b="0">
                <a:solidFill>
                  <a:srgbClr val="141414"/>
                </a:solidFill>
                <a:latin typeface="Arial"/>
              </a:rPr>
              <a:t>Proper data preparation ensures data quality and reliability. Statistical analysis of
hospital patient records reveals important patterns and relationships that support
better decision-making, improve patient care, and optimize hospital resources.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479792" y="11612880"/>
            <a:ext cx="41148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dirty="0">
                <a:solidFill>
                  <a:srgbClr val="143969"/>
                </a:solidFill>
                <a:latin typeface="Arial"/>
              </a:rPr>
              <a:t>
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0" y="12545568"/>
            <a:ext cx="9144000" cy="0"/>
          </a:xfrm>
          <a:prstGeom prst="line">
            <a:avLst/>
          </a:prstGeom>
          <a:ln>
            <a:solidFill>
              <a:srgbClr val="143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292608" y="12646152"/>
            <a:ext cx="4251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3969"/>
                </a:solidFill>
                <a:latin typeface="Arial"/>
              </a:rPr>
              <a:t>Tools Used: Python | Pandas | NumPy | Matplotlib | Seaborn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882896" y="12618720"/>
            <a:ext cx="3886200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 dirty="0">
                <a:solidFill>
                  <a:srgbClr val="143969"/>
                </a:solidFill>
                <a:latin typeface="Arial"/>
              </a:rPr>
              <a:t>Name: </a:t>
            </a:r>
            <a:r>
              <a:rPr lang="en-US" sz="850" dirty="0" err="1" smtClean="0">
                <a:solidFill>
                  <a:srgbClr val="143969"/>
                </a:solidFill>
                <a:latin typeface="Arial"/>
              </a:rPr>
              <a:t>R.Mouni</a:t>
            </a:r>
            <a:r>
              <a:rPr sz="850" b="0" dirty="0" smtClean="0">
                <a:solidFill>
                  <a:srgbClr val="143969"/>
                </a:solidFill>
                <a:latin typeface="Arial"/>
              </a:rPr>
              <a:t>  </a:t>
            </a:r>
            <a:r>
              <a:rPr sz="850" b="0" dirty="0">
                <a:solidFill>
                  <a:srgbClr val="143969"/>
                </a:solidFill>
                <a:latin typeface="Arial"/>
              </a:rPr>
              <a:t>|   </a:t>
            </a:r>
            <a:r>
              <a:rPr sz="850" b="0" dirty="0" err="1">
                <a:solidFill>
                  <a:srgbClr val="143969"/>
                </a:solidFill>
                <a:latin typeface="Arial"/>
              </a:rPr>
              <a:t>Regno</a:t>
            </a:r>
            <a:r>
              <a:rPr sz="850" b="0" dirty="0">
                <a:solidFill>
                  <a:srgbClr val="143969"/>
                </a:solidFill>
                <a:latin typeface="Arial"/>
              </a:rPr>
              <a:t>: </a:t>
            </a:r>
            <a:r>
              <a:rPr sz="850" b="0" dirty="0" smtClean="0">
                <a:solidFill>
                  <a:srgbClr val="143969"/>
                </a:solidFill>
                <a:latin typeface="Arial"/>
              </a:rPr>
              <a:t>1924722</a:t>
            </a:r>
            <a:r>
              <a:rPr lang="en-US" sz="850" b="0" dirty="0" smtClean="0">
                <a:solidFill>
                  <a:srgbClr val="143969"/>
                </a:solidFill>
                <a:latin typeface="Arial"/>
              </a:rPr>
              <a:t>83</a:t>
            </a:r>
            <a:endParaRPr sz="850" b="0" dirty="0">
              <a:solidFill>
                <a:srgbClr val="143969"/>
              </a:solidFill>
              <a:latin typeface="Arial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4882896" y="12893040"/>
            <a:ext cx="3886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143969"/>
                </a:solidFill>
                <a:latin typeface="Arial"/>
              </a:rPr>
              <a:t>Course: DSA0405   |   Faculty: Dr Krishnaraj Mony</a:t>
            </a:r>
          </a:p>
        </p:txBody>
      </p:sp>
      <p:pic>
        <p:nvPicPr>
          <p:cNvPr id="192" name="Google Shape;89;g3bc64e9295e_8_40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26755" y="199403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90;g3bc64e9295e_8_40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7796099" y="160984"/>
            <a:ext cx="1187882" cy="120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364</Words>
  <Application>Microsoft Office PowerPoint</Application>
  <PresentationFormat>Custom</PresentationFormat>
  <Paragraphs>122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Acer</dc:creator>
  <cp:keywords/>
  <dc:description>generated using python-pptx</dc:description>
  <cp:lastModifiedBy>Acer</cp:lastModifiedBy>
  <cp:revision>4</cp:revision>
  <dcterms:created xsi:type="dcterms:W3CDTF">2013-01-27T09:14:16Z</dcterms:created>
  <dcterms:modified xsi:type="dcterms:W3CDTF">2026-08-19T10:24:43Z</dcterms:modified>
  <cp:category/>
</cp:coreProperties>
</file>